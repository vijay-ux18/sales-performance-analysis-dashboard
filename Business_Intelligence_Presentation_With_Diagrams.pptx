
<file path=[Content_Types].xml><?xml version="1.0" encoding="utf-8"?>
<Types xmlns="http://schemas.openxmlformats.org/package/2006/content-types">
  <Default Extension="docx" ContentType="application/vnd.openxmlformats-officedocument.wordprocessingml.documen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2" r:id="rId2"/>
    <p:sldId id="256" r:id="rId3"/>
    <p:sldId id="257" r:id="rId4"/>
    <p:sldId id="258" r:id="rId5"/>
    <p:sldId id="259" r:id="rId6"/>
    <p:sldId id="260" r:id="rId7"/>
    <p:sldId id="261" r:id="rId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06/29/26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package" Target="../embeddings/Microsoft_Word_Document.docx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37B6B7E7-9ACB-38B8-DF3F-0F46FF66C3E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083301"/>
              </p:ext>
            </p:extLst>
          </p:nvPr>
        </p:nvGraphicFramePr>
        <p:xfrm>
          <a:off x="2243138" y="717550"/>
          <a:ext cx="6773862" cy="542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940848" imgH="8316026" progId="Word.Document.12">
                  <p:embed/>
                </p:oleObj>
              </mc:Choice>
              <mc:Fallback>
                <p:oleObj name="Document" r:id="rId2" imgW="5940848" imgH="8316026" progId="Word.Document.12">
                  <p:embed/>
                  <p:pic>
                    <p:nvPicPr>
                      <p:cNvPr id="13" name="Object 12">
                        <a:extLst>
                          <a:ext uri="{FF2B5EF4-FFF2-40B4-BE49-F238E27FC236}">
                            <a16:creationId xmlns:a16="http://schemas.microsoft.com/office/drawing/2014/main" id="{13BB0B72-8BF3-527A-2928-C5B9C08B2B9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243138" y="717550"/>
                        <a:ext cx="6773862" cy="542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830158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Business Intelligence Solution: Sales Performance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297960" cy="1938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rPr dirty="0"/>
              <a:t>Transforming Raw Enterprise Data into Actionable Insight</a:t>
            </a:r>
            <a:br>
              <a:rPr dirty="0"/>
            </a:br>
            <a:br>
              <a:rPr dirty="0"/>
            </a:br>
            <a:r>
              <a:rPr dirty="0"/>
              <a:t>Final Internship Project Submission</a:t>
            </a:r>
            <a:br>
              <a:rPr dirty="0"/>
            </a:br>
            <a:r>
              <a:rPr dirty="0"/>
              <a:t>Presented By: </a:t>
            </a:r>
            <a:r>
              <a:rPr lang="en-US" dirty="0"/>
              <a:t>Suru Vijay Bhaskar Reddy</a:t>
            </a:r>
          </a:p>
          <a:p>
            <a:pPr>
              <a:defRPr sz="2400"/>
            </a:pPr>
            <a:r>
              <a:rPr lang="en-US" dirty="0"/>
              <a:t>Data and </a:t>
            </a:r>
            <a:r>
              <a:rPr dirty="0"/>
              <a:t>Business</a:t>
            </a:r>
            <a:r>
              <a:rPr lang="en-US" dirty="0"/>
              <a:t> Intelligence</a:t>
            </a:r>
            <a:r>
              <a:rPr dirty="0"/>
              <a:t> Analytics Intern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79" y="1188720"/>
            <a:ext cx="1371600" cy="731520"/>
          </a:xfrm>
          <a:prstGeom prst="roundRect">
            <a:avLst/>
          </a:prstGeom>
          <a:solidFill>
            <a:srgbClr val="DDEB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>
                <a:solidFill>
                  <a:schemeClr val="tx1"/>
                </a:solidFill>
              </a:rPr>
              <a:t>KPI </a:t>
            </a:r>
            <a:r>
              <a:rPr lang="en-US" dirty="0">
                <a:solidFill>
                  <a:schemeClr val="tx1"/>
                </a:solidFill>
              </a:rPr>
              <a:t>Revenue: $14,915,600.82</a:t>
            </a:r>
          </a:p>
          <a:p>
            <a:endParaRPr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9235440" y="1188720"/>
            <a:ext cx="1371600" cy="731520"/>
          </a:xfrm>
          <a:prstGeom prst="roundRect">
            <a:avLst/>
          </a:prstGeom>
          <a:solidFill>
            <a:srgbClr val="DDEB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Technology: $886,313.52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406640" y="2194560"/>
            <a:ext cx="3657600" cy="2743200"/>
          </a:xfrm>
          <a:prstGeom prst="rect">
            <a:avLst/>
          </a:prstGeom>
          <a:solidFill>
            <a:srgbClr val="F5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0" y="3840480"/>
            <a:ext cx="365760" cy="731520"/>
          </a:xfrm>
          <a:prstGeom prst="rect">
            <a:avLst/>
          </a:prstGeom>
          <a:solidFill>
            <a:srgbClr val="5B9BD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412480" y="3291840"/>
            <a:ext cx="365760" cy="1280160"/>
          </a:xfrm>
          <a:prstGeom prst="rect">
            <a:avLst/>
          </a:prstGeom>
          <a:solidFill>
            <a:srgbClr val="5B9BD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052560" y="2743200"/>
            <a:ext cx="365760" cy="1828800"/>
          </a:xfrm>
          <a:prstGeom prst="rect">
            <a:avLst/>
          </a:prstGeom>
          <a:solidFill>
            <a:srgbClr val="5B9BD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692640" y="3474720"/>
            <a:ext cx="365760" cy="1097280"/>
          </a:xfrm>
          <a:prstGeom prst="rect">
            <a:avLst/>
          </a:prstGeom>
          <a:solidFill>
            <a:srgbClr val="5B9BD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Project Objectives &amp;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5486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Problem:</a:t>
            </a:r>
          </a:p>
          <a:p>
            <a:r>
              <a:t>• Data in spreadsheets</a:t>
            </a:r>
          </a:p>
          <a:p>
            <a:r>
              <a:t>• Reporting silos</a:t>
            </a:r>
          </a:p>
          <a:p>
            <a:r>
              <a:t>• Delayed visibility</a:t>
            </a:r>
          </a:p>
          <a:p>
            <a:endParaRPr/>
          </a:p>
          <a:p>
            <a:r>
              <a:t>Objectives:</a:t>
            </a:r>
          </a:p>
          <a:p>
            <a:r>
              <a:t>• Python ETL</a:t>
            </a:r>
          </a:p>
          <a:p>
            <a:r>
              <a:t>• Star Schema</a:t>
            </a:r>
          </a:p>
          <a:p>
            <a:r>
              <a:t>• Interactive Dashboard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2286000"/>
            <a:ext cx="1005840" cy="731520"/>
          </a:xfrm>
          <a:prstGeom prst="roundRect">
            <a:avLst/>
          </a:prstGeom>
          <a:solidFill>
            <a:srgbClr val="DDEB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>
                <a:highlight>
                  <a:srgbClr val="000000"/>
                </a:highlight>
              </a:rPr>
              <a:t>Excel</a:t>
            </a:r>
          </a:p>
        </p:txBody>
      </p:sp>
      <p:sp>
        <p:nvSpPr>
          <p:cNvPr id="6" name="Chevron 5"/>
          <p:cNvSpPr/>
          <p:nvPr/>
        </p:nvSpPr>
        <p:spPr>
          <a:xfrm>
            <a:off x="7452360" y="2423160"/>
            <a:ext cx="320040" cy="411480"/>
          </a:xfrm>
          <a:prstGeom prst="chevron">
            <a:avLst/>
          </a:prstGeom>
          <a:solidFill>
            <a:srgbClr val="5B9BD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818120" y="2286000"/>
            <a:ext cx="1005840" cy="731520"/>
          </a:xfrm>
          <a:prstGeom prst="roundRect">
            <a:avLst/>
          </a:prstGeom>
          <a:solidFill>
            <a:srgbClr val="DDEB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>
                <a:highlight>
                  <a:srgbClr val="000000"/>
                </a:highlight>
              </a:rPr>
              <a:t>Python</a:t>
            </a:r>
          </a:p>
        </p:txBody>
      </p:sp>
      <p:sp>
        <p:nvSpPr>
          <p:cNvPr id="8" name="Chevron 7"/>
          <p:cNvSpPr/>
          <p:nvPr/>
        </p:nvSpPr>
        <p:spPr>
          <a:xfrm>
            <a:off x="8686800" y="2423160"/>
            <a:ext cx="320040" cy="411480"/>
          </a:xfrm>
          <a:prstGeom prst="chevron">
            <a:avLst/>
          </a:prstGeom>
          <a:solidFill>
            <a:srgbClr val="5B9BD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052560" y="2286000"/>
            <a:ext cx="1005840" cy="731520"/>
          </a:xfrm>
          <a:prstGeom prst="roundRect">
            <a:avLst/>
          </a:prstGeom>
          <a:solidFill>
            <a:srgbClr val="DDEB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>
                <a:highlight>
                  <a:srgbClr val="000000"/>
                </a:highlight>
              </a:rPr>
              <a:t>Database</a:t>
            </a:r>
          </a:p>
        </p:txBody>
      </p:sp>
      <p:sp>
        <p:nvSpPr>
          <p:cNvPr id="10" name="Chevron 9"/>
          <p:cNvSpPr/>
          <p:nvPr/>
        </p:nvSpPr>
        <p:spPr>
          <a:xfrm>
            <a:off x="9921240" y="2423160"/>
            <a:ext cx="320040" cy="411480"/>
          </a:xfrm>
          <a:prstGeom prst="chevron">
            <a:avLst/>
          </a:prstGeom>
          <a:solidFill>
            <a:srgbClr val="5B9BD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287000" y="2286000"/>
            <a:ext cx="1005840" cy="731520"/>
          </a:xfrm>
          <a:prstGeom prst="roundRect">
            <a:avLst/>
          </a:prstGeom>
          <a:solidFill>
            <a:srgbClr val="DDEB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>
                <a:highlight>
                  <a:srgbClr val="000000"/>
                </a:highlight>
              </a:rPr>
              <a:t>Dashboard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Dataset &amp; 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45720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Dataset:</a:t>
            </a:r>
          </a:p>
          <a:p>
            <a:r>
              <a:t>Sample - Superstore Sales (Excel) (1)_2.xls</a:t>
            </a:r>
          </a:p>
          <a:p>
            <a:endParaRPr/>
          </a:p>
          <a:p>
            <a:r>
              <a:t>8399 Orders</a:t>
            </a:r>
          </a:p>
          <a:p>
            <a:r>
              <a:t>572 Returns</a:t>
            </a:r>
          </a:p>
          <a:p>
            <a:r>
              <a:t>8 Managers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0" y="1371600"/>
            <a:ext cx="1463040" cy="731520"/>
          </a:xfrm>
          <a:prstGeom prst="roundRect">
            <a:avLst/>
          </a:prstGeom>
          <a:solidFill>
            <a:srgbClr val="DDEB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>
                <a:highlight>
                  <a:srgbClr val="000000"/>
                </a:highlight>
              </a:rPr>
              <a:t>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03920" y="1371600"/>
            <a:ext cx="1463040" cy="731520"/>
          </a:xfrm>
          <a:prstGeom prst="roundRect">
            <a:avLst/>
          </a:prstGeom>
          <a:solidFill>
            <a:srgbClr val="DDEB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>
                <a:highlight>
                  <a:srgbClr val="000000"/>
                </a:highlight>
              </a:rPr>
              <a:t>SQL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2743200"/>
            <a:ext cx="1463040" cy="731520"/>
          </a:xfrm>
          <a:prstGeom prst="roundRect">
            <a:avLst/>
          </a:prstGeom>
          <a:solidFill>
            <a:srgbClr val="DDEB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>
                <a:highlight>
                  <a:srgbClr val="000000"/>
                </a:highlight>
              </a:rPr>
              <a:t>Power BI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03920" y="2743200"/>
            <a:ext cx="1463040" cy="731520"/>
          </a:xfrm>
          <a:prstGeom prst="roundRect">
            <a:avLst/>
          </a:prstGeom>
          <a:solidFill>
            <a:srgbClr val="DDEB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>
                <a:highlight>
                  <a:srgbClr val="000000"/>
                </a:highlight>
              </a:rPr>
              <a:t>Tableau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System Design &amp; Algorithm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97280"/>
            <a:ext cx="1371600" cy="731520"/>
          </a:xfrm>
          <a:prstGeom prst="roundRect">
            <a:avLst/>
          </a:prstGeom>
          <a:solidFill>
            <a:srgbClr val="DDEB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>
                <a:highlight>
                  <a:srgbClr val="000000"/>
                </a:highlight>
              </a:rPr>
              <a:t>Extract</a:t>
            </a:r>
          </a:p>
        </p:txBody>
      </p:sp>
      <p:sp>
        <p:nvSpPr>
          <p:cNvPr id="5" name="Chevron 4"/>
          <p:cNvSpPr/>
          <p:nvPr/>
        </p:nvSpPr>
        <p:spPr>
          <a:xfrm>
            <a:off x="1828800" y="1280160"/>
            <a:ext cx="365760" cy="320040"/>
          </a:xfrm>
          <a:prstGeom prst="chevron">
            <a:avLst/>
          </a:prstGeom>
          <a:solidFill>
            <a:srgbClr val="5B9BD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468880" y="1097280"/>
            <a:ext cx="1371600" cy="731520"/>
          </a:xfrm>
          <a:prstGeom prst="roundRect">
            <a:avLst/>
          </a:prstGeom>
          <a:solidFill>
            <a:srgbClr val="DDEB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>
                <a:highlight>
                  <a:srgbClr val="000000"/>
                </a:highlight>
              </a:rPr>
              <a:t>Clean</a:t>
            </a:r>
          </a:p>
        </p:txBody>
      </p:sp>
      <p:sp>
        <p:nvSpPr>
          <p:cNvPr id="7" name="Chevron 6"/>
          <p:cNvSpPr/>
          <p:nvPr/>
        </p:nvSpPr>
        <p:spPr>
          <a:xfrm>
            <a:off x="3657600" y="1280160"/>
            <a:ext cx="365760" cy="320040"/>
          </a:xfrm>
          <a:prstGeom prst="chevron">
            <a:avLst/>
          </a:prstGeom>
          <a:solidFill>
            <a:srgbClr val="5B9BD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297680" y="1097280"/>
            <a:ext cx="1371600" cy="731520"/>
          </a:xfrm>
          <a:prstGeom prst="roundRect">
            <a:avLst/>
          </a:prstGeom>
          <a:solidFill>
            <a:srgbClr val="DDEB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>
                <a:highlight>
                  <a:srgbClr val="000000"/>
                </a:highlight>
              </a:rPr>
              <a:t>Join</a:t>
            </a:r>
          </a:p>
        </p:txBody>
      </p:sp>
      <p:sp>
        <p:nvSpPr>
          <p:cNvPr id="9" name="Chevron 8"/>
          <p:cNvSpPr/>
          <p:nvPr/>
        </p:nvSpPr>
        <p:spPr>
          <a:xfrm>
            <a:off x="5486400" y="1280160"/>
            <a:ext cx="365760" cy="320040"/>
          </a:xfrm>
          <a:prstGeom prst="chevron">
            <a:avLst/>
          </a:prstGeom>
          <a:solidFill>
            <a:srgbClr val="5B9BD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126480" y="1097280"/>
            <a:ext cx="1371600" cy="731520"/>
          </a:xfrm>
          <a:prstGeom prst="roundRect">
            <a:avLst/>
          </a:prstGeom>
          <a:solidFill>
            <a:srgbClr val="DDEB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>
                <a:highlight>
                  <a:srgbClr val="000000"/>
                </a:highlight>
              </a:rPr>
              <a:t>Dashboard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286000"/>
            <a:ext cx="1645920" cy="731520"/>
          </a:xfrm>
          <a:prstGeom prst="roundRect">
            <a:avLst/>
          </a:prstGeom>
          <a:solidFill>
            <a:srgbClr val="FFE6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>
                <a:highlight>
                  <a:srgbClr val="000000"/>
                </a:highlight>
              </a:rPr>
              <a:t>FACT</a:t>
            </a:r>
          </a:p>
          <a:p>
            <a:r>
              <a:rPr dirty="0">
                <a:highlight>
                  <a:srgbClr val="000000"/>
                </a:highlight>
              </a:rPr>
              <a:t>Orders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914400"/>
            <a:ext cx="1371600" cy="640080"/>
          </a:xfrm>
          <a:prstGeom prst="roundRect">
            <a:avLst/>
          </a:prstGeom>
          <a:solidFill>
            <a:srgbClr val="DDEB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>
                <a:highlight>
                  <a:srgbClr val="000000"/>
                </a:highlight>
              </a:rPr>
              <a:t>Users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183879" y="1234440"/>
            <a:ext cx="685801" cy="14173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0058400" y="2286000"/>
            <a:ext cx="1371600" cy="640080"/>
          </a:xfrm>
          <a:prstGeom prst="roundRect">
            <a:avLst/>
          </a:prstGeom>
          <a:solidFill>
            <a:srgbClr val="DDEB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>
                <a:highlight>
                  <a:srgbClr val="000000"/>
                </a:highlight>
              </a:rPr>
              <a:t>Returns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8869680" y="2606040"/>
            <a:ext cx="1874520" cy="457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498079" y="3840480"/>
            <a:ext cx="1371600" cy="640080"/>
          </a:xfrm>
          <a:prstGeom prst="roundRect">
            <a:avLst/>
          </a:prstGeom>
          <a:solidFill>
            <a:srgbClr val="DDEB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>
                <a:highlight>
                  <a:srgbClr val="000000"/>
                </a:highlight>
              </a:rPr>
              <a:t>Products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8183879" y="2651760"/>
            <a:ext cx="685801" cy="15087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0058400" y="3840480"/>
            <a:ext cx="1371600" cy="640080"/>
          </a:xfrm>
          <a:prstGeom prst="roundRect">
            <a:avLst/>
          </a:prstGeom>
          <a:solidFill>
            <a:srgbClr val="DDEB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>
                <a:highlight>
                  <a:srgbClr val="000000"/>
                </a:highlight>
              </a:rPr>
              <a:t>Region</a:t>
            </a:r>
          </a:p>
        </p:txBody>
      </p:sp>
      <p:cxnSp>
        <p:nvCxnSpPr>
          <p:cNvPr id="19" name="Connector 18"/>
          <p:cNvCxnSpPr/>
          <p:nvPr/>
        </p:nvCxnSpPr>
        <p:spPr>
          <a:xfrm flipH="1" flipV="1">
            <a:off x="8869680" y="2651760"/>
            <a:ext cx="1874520" cy="15087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Key Performance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2958" y="749808"/>
            <a:ext cx="257211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/>
              <a:t>Revenue: $14,915,600.82</a:t>
            </a:r>
          </a:p>
          <a:p>
            <a:r>
              <a:rPr dirty="0"/>
              <a:t>Profit: $1,521,767.96</a:t>
            </a:r>
          </a:p>
          <a:p>
            <a:r>
              <a:rPr dirty="0"/>
              <a:t>Technology: $886,313.52</a:t>
            </a:r>
          </a:p>
          <a:p>
            <a:r>
              <a:rPr dirty="0"/>
              <a:t>Top: Ontario &amp; West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6858000" y="3200400"/>
            <a:ext cx="457200" cy="1371600"/>
          </a:xfrm>
          <a:prstGeom prst="rect">
            <a:avLst/>
          </a:prstGeom>
          <a:solidFill>
            <a:srgbClr val="5B9BD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7589520" y="2011680"/>
            <a:ext cx="457200" cy="2560320"/>
          </a:xfrm>
          <a:prstGeom prst="rect">
            <a:avLst/>
          </a:prstGeom>
          <a:solidFill>
            <a:srgbClr val="5B9BD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8321040" y="2651760"/>
            <a:ext cx="457200" cy="1920240"/>
          </a:xfrm>
          <a:prstGeom prst="rect">
            <a:avLst/>
          </a:prstGeom>
          <a:solidFill>
            <a:srgbClr val="5B9BD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80E7B344-895A-092B-0CA1-BC9B815D3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0" y="4572000"/>
            <a:ext cx="8229600" cy="223736"/>
          </a:xfrm>
        </p:spPr>
        <p:txBody>
          <a:bodyPr>
            <a:normAutofit fontScale="90000"/>
          </a:bodyPr>
          <a:lstStyle/>
          <a:p>
            <a:pPr algn="l"/>
            <a:r>
              <a:rPr lang="en-US" sz="1200" dirty="0"/>
              <a:t>                                                                               Technology     Revenue           Profit                 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Strategic Conclusion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5486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Real-time reporting</a:t>
            </a:r>
          </a:p>
          <a:p>
            <a:r>
              <a:t>• Better decisions</a:t>
            </a:r>
          </a:p>
          <a:p>
            <a:endParaRPr/>
          </a:p>
          <a:p>
            <a:r>
              <a:t>Recommendations:</a:t>
            </a:r>
          </a:p>
          <a:p>
            <a:r>
              <a:t>✓ Expand Technology</a:t>
            </a:r>
          </a:p>
          <a:p>
            <a:r>
              <a:t>✓ Improve Furniture</a:t>
            </a:r>
          </a:p>
          <a:p>
            <a:r>
              <a:t>✓ Focus Ontario &amp; West</a:t>
            </a:r>
          </a:p>
        </p:txBody>
      </p:sp>
      <p:sp>
        <p:nvSpPr>
          <p:cNvPr id="5" name="Circular Arrow 4"/>
          <p:cNvSpPr/>
          <p:nvPr/>
        </p:nvSpPr>
        <p:spPr>
          <a:xfrm>
            <a:off x="7772400" y="1828800"/>
            <a:ext cx="2286000" cy="2286000"/>
          </a:xfrm>
          <a:prstGeom prst="circularArrow">
            <a:avLst/>
          </a:prstGeom>
          <a:solidFill>
            <a:srgbClr val="DDEB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167</Words>
  <Application>Microsoft Office PowerPoint</Application>
  <PresentationFormat>Custom</PresentationFormat>
  <Paragraphs>55</Paragraphs>
  <Slides>7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Office Theme</vt:lpstr>
      <vt:lpstr>Microsoft Word Document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                                                                             Technology     Revenue           Profit                  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Vijay Bhaskar Reddy</cp:lastModifiedBy>
  <cp:revision>6</cp:revision>
  <dcterms:created xsi:type="dcterms:W3CDTF">2013-01-27T09:14:16Z</dcterms:created>
  <dcterms:modified xsi:type="dcterms:W3CDTF">2026-06-28T21:22:53Z</dcterms:modified>
  <cp:category/>
</cp:coreProperties>
</file>